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30 秒：先抛问题——“找座位能不能像查课表一样确定？”再报项目名和本次汇报路线：背景、场景、模型、原型、验收与团队。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40—60 秒：三个问题对应三类主体的价值，最后落到本期范围。访谈尚未完成，答辩时明确说“待验证”，不要包装成结论。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20—30 秒：V1.0 已有规则与状态，V2.0 新增场景、类图、原型、验收。三个数字 12/15/15 是本次工作量最直观的证据。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秒讲覆盖率：3 类角色、12 个场景、5 类业务。不要逐条念，指出 US-03 是下一页重点。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40—50 秒：两名学生同时提交，服务端在事务内重新校验，数据库唯一约束保证只有一条写入。AC-05 是验收目标，尚未实测，答辩要主动说明。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秒：以“待签到 → 使用中 → 暂离中 → 终态”讲主线，再补取消和超时两个分支。强调 4 小时、7 天等是拟定值，待管理员确认。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秒给全局：四层、13 个类。先指用户层，再指资源/记录层，最后落在 ReservationService——并发控制的唯一入口。下一页只看 4 个核心类。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秒：每类只讲 2—3 个关键属性或操作。重点解释为什么把冲突判断集中在 ReservationService，以及 version 乐观锁的作用。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秒故事线：筛选 → 预约 → 签到 → 暂离 → 结束。重点讲冲突失败后保留筛选条件，用户不用重新输入。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秒：重点讲“关闭资源前预览受影响预约”和“规则变更留版本”，说明系统对管理员可管理、对争议可追溯。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秒：说明优先级依据——用户价值、依赖关系、本期范围。Must 先打通查询—预约—签到—释放，范围外的功能明确不做。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秒：用 US-03 → FR-04/05 → BR-06/10 → AC-05 讲通一条链。明确“用例已定义，实际测试待系统实现后执行”，区分文档成果与测试结果。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秒：先讲“1 名队长 + 3 个工作小组”的结构，再讲 13 人贡献计划和六项工作量分布。强调当前是计划值，完成后按实际交付与互评核定。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秒：讲“计划—执行—复核”闭环。如实说明截至今天完成到哪一步：SRS 已定稿，PPT 彩排与博客发布进行中，访谈和测试待后续完成。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秒：每个难点用“问题—对策—验证”三句话讲完，最后回到开场的问题，形成闭环，并邀请提问。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303520" cy="5303520"/>
          </a:xfrm>
          <a:prstGeom prst="ellipse">
            <a:avLst/>
          </a:prstGeom>
          <a:solidFill>
            <a:srgbClr val="1B3552"/>
          </a:solidFill>
          <a:ln w="12700">
            <a:solidFill>
              <a:srgbClr val="1B35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846320"/>
            <a:ext cx="3291840" cy="3291840"/>
          </a:xfrm>
          <a:prstGeom prst="ellipse">
            <a:avLst/>
          </a:prstGeom>
          <a:solidFill>
            <a:srgbClr val="18304B"/>
          </a:solidFill>
          <a:ln w="12700">
            <a:solidFill>
              <a:srgbClr val="1830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868680"/>
            <a:ext cx="868680" cy="45720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6217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FD8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StudySeat · 知行有座队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170432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智慧校园自习室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预约与座位管理系统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9FD8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 · SRS V2.0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3101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知行有座队｜13 人｜主讲：曾景康｜2026.10.17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9776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4263D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397764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7E7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个用户场景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1720" y="397764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14263D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6584" y="397764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7E7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个类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03320" y="39776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4263D"/>
          </a:solidFill>
          <a:ln w="12700">
            <a:solidFill>
              <a:srgbClr val="3E6B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397764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7E7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条验收用例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5989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FA6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第三次作业 · 需求分析课堂展示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29400" y="868680"/>
            <a:ext cx="4983480" cy="507492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pic>
        <p:nvPicPr>
          <p:cNvPr id="17" name="Image 0" descr="concept_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156988"/>
            <a:ext cx="4617720" cy="309012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812280" y="448056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产品概念图（视觉方案）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903720" y="484632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03720" y="484632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8229600" y="484632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0" y="484632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555480" y="484632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55480" y="484632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座位地图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812280" y="53492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从“找座位”到“可验证的预约闭环”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背景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858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座位不是不够，而是“看不见、约不准、管不清”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 · 开发目的 · 对三类主体的价值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685800" cy="41148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676656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校园自习空间示意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491" y="1417320"/>
            <a:ext cx="6661419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3611880"/>
            <a:ext cx="6766560" cy="1554480"/>
          </a:xfrm>
          <a:prstGeom prst="rect">
            <a:avLst/>
          </a:prstGeom>
          <a:solidFill>
            <a:srgbClr val="0B1B2B">
              <a:alpha val="68000"/>
            </a:srgbClr>
          </a:solidFill>
          <a:ln w="12700">
            <a:solidFill>
              <a:srgbClr val="0B1B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74904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找不到座：到馆才知道有没有空位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16052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约了不来：座位被占住，别人约不到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457200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记录查不到：出了问题说不清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C9D6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校园自习空间（示意图）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635240" y="1463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对三类主体的价值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635240" y="1783080"/>
            <a:ext cx="39776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818120" y="2002536"/>
            <a:ext cx="182880" cy="182880"/>
          </a:xfrm>
          <a:prstGeom prst="ellipse">
            <a:avLst/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19872" y="185623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732520" y="1856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少跑空趟，按时段选座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635240" y="2532888"/>
            <a:ext cx="39776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818120" y="2752344"/>
            <a:ext cx="182880" cy="182880"/>
          </a:xfrm>
          <a:prstGeom prst="ellipse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19872" y="26060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73252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规则可配，异常可查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635240" y="3282696"/>
            <a:ext cx="39776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818120" y="3502152"/>
            <a:ext cx="182880" cy="182880"/>
          </a:xfrm>
          <a:prstGeom prst="ellipse">
            <a:avLst/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19872" y="335584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B4C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732520" y="3355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提高座位周转率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635240" y="4096512"/>
            <a:ext cx="3977640" cy="1207008"/>
          </a:xfrm>
          <a:prstGeom prst="roundRect">
            <a:avLst>
              <a:gd name="adj" fmla="val 6061"/>
            </a:avLst>
          </a:prstGeom>
          <a:solidFill>
            <a:srgbClr val="FDF1E0"/>
          </a:solidFill>
          <a:ln w="9525">
            <a:solidFill>
              <a:srgbClr val="FDF1E0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818120" y="41879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本期范围边界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818120" y="446227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A42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本期只做：查询 → 预约 → 签到 → 释放。</a:t>
            </a:r>
            <a:endParaRPr lang="en-US" sz="92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A42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暂不做：支付、门禁、推荐、消息推送。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502920" y="550468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本期目标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234440" y="5559552"/>
            <a:ext cx="1325880" cy="347472"/>
          </a:xfrm>
          <a:prstGeom prst="chevron">
            <a:avLst/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25880" y="55595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651760" y="5559552"/>
            <a:ext cx="1325880" cy="347472"/>
          </a:xfrm>
          <a:prstGeom prst="chevron">
            <a:avLst/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0" y="55595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069080" y="5559552"/>
            <a:ext cx="1325880" cy="347472"/>
          </a:xfrm>
          <a:prstGeom prst="chevron">
            <a:avLst/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160520" y="55595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486400" y="5559552"/>
            <a:ext cx="1325880" cy="347472"/>
          </a:xfrm>
          <a:prstGeom prst="chevron">
            <a:avLst/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577840" y="55595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610819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访谈和平台调查还没做（TBD-01—03），文中参数先按“拟定值”标注。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502920" y="6446520"/>
            <a:ext cx="11185855" cy="9144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41" name="Text 37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知行有座队 · 第三次作业 需求分析 · SRS V2.0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11231575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需求路线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858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 不是改写，而是把需求“做实”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V1.0 到 V2.0：新增场景、类图、原型、验收与追溯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685800" cy="41148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81328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48132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 业务规则 + 状态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87752" y="1673352"/>
            <a:ext cx="429768" cy="9144"/>
          </a:xfrm>
          <a:prstGeom prst="line">
            <a:avLst/>
          </a:prstGeom>
          <a:noFill/>
          <a:ln w="25400">
            <a:solidFill>
              <a:srgbClr val="D98A2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081528" y="1481328"/>
            <a:ext cx="3703320" cy="384048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481328"/>
            <a:ext cx="3557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  场景 + 类图 + 原型 + 验收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995160" y="14813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补齐四个缺口，并建立可追溯的编号体系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1488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 V1.0 缺口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9224" y="26334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/ 编号 / 术语统一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0" y="2761488"/>
            <a:ext cx="155448" cy="9144"/>
          </a:xfrm>
          <a:prstGeom prst="line">
            <a:avLst/>
          </a:prstGeom>
          <a:noFill/>
          <a:ln w="19050">
            <a:solidFill>
              <a:srgbClr val="D9E1E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61488" y="21488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07792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64408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个用户场景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07792" y="26334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谁在什么情况下做什么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18888" y="2761488"/>
            <a:ext cx="155448" cy="9144"/>
          </a:xfrm>
          <a:prstGeom prst="line">
            <a:avLst/>
          </a:prstGeom>
          <a:noFill/>
          <a:ln w="19050">
            <a:solidFill>
              <a:srgbClr val="D9E1E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20056" y="21488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6636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522976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个类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66360" y="26334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类图 + 关系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77456" y="2761488"/>
            <a:ext cx="155448" cy="9144"/>
          </a:xfrm>
          <a:prstGeom prst="line">
            <a:avLst/>
          </a:prstGeom>
          <a:noFill/>
          <a:ln w="19050">
            <a:solidFill>
              <a:srgbClr val="D9E1E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278624" y="21488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2492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781544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界面原型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424928" y="26334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 / 管理端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336024" y="2761488"/>
            <a:ext cx="155448" cy="9144"/>
          </a:xfrm>
          <a:prstGeom prst="line">
            <a:avLst/>
          </a:prstGeom>
          <a:noFill/>
          <a:ln w="19050">
            <a:solidFill>
              <a:srgbClr val="D9E1E8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537192" y="214884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683496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040112" y="22402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验收与追溯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683496" y="26334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条 AC + 追溯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3703320"/>
            <a:ext cx="20574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9224" y="378561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371600" y="3794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用户场景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71600" y="4069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US-01—US-12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2761488" y="3703320"/>
            <a:ext cx="20574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907792" y="378561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3630168" y="3794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30168" y="4069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FR-01—FR-15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5020056" y="3703320"/>
            <a:ext cx="20574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166360" y="378561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5888736" y="3794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88736" y="4069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BR-01—BR-13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7278624" y="3703320"/>
            <a:ext cx="20574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424928" y="378561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8147304" y="3794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147304" y="4069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含服务类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9537192" y="3703320"/>
            <a:ext cx="20574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9683496" y="3785616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10405872" y="3794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验收用例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405872" y="4069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AC-01—AC-15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502920" y="50749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 页 SRS｜6 幅图｜30 余张表｜12 场景、13 类、15 条验收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让需求明确、规则一致、成果可验证。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502920" y="6446520"/>
            <a:ext cx="11185855" cy="9144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60" name="Text 57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知行有座队 · 第三次作业 需求分析 · SRS V2.0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11231575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用户场景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858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三类角色，12 个场景覆盖“约—用—管”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每个场景写清触发条件、主流程、异常分支与结束状态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685800" cy="41148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8132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1645920"/>
            <a:ext cx="384048" cy="384048"/>
          </a:xfrm>
          <a:prstGeom prst="ellipse">
            <a:avLst/>
          </a:prstGeom>
          <a:solidFill>
            <a:srgbClr val="2E9E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5910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查座、预约、签到、暂离、结束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02920" y="280720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7512" y="2971800"/>
            <a:ext cx="384048" cy="384048"/>
          </a:xfrm>
          <a:prstGeom prst="ellipse">
            <a:avLst/>
          </a:prstGeom>
          <a:solidFill>
            <a:srgbClr val="2E9E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9169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24612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管资源、配规则、查记录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02920" y="413308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" y="4297680"/>
            <a:ext cx="384048" cy="384048"/>
          </a:xfrm>
          <a:prstGeom prst="ellipse">
            <a:avLst/>
          </a:prstGeom>
          <a:solidFill>
            <a:srgbClr val="2B4C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42428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系统后台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5720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判超时、释放座位、写日志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069080" y="1481328"/>
            <a:ext cx="3611880" cy="1078992"/>
          </a:xfrm>
          <a:prstGeom prst="roundRect">
            <a:avLst>
              <a:gd name="adj" fmla="val 6780"/>
            </a:avLst>
          </a:prstGeom>
          <a:solidFill>
            <a:srgbClr val="F2FAF8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69080" y="1481328"/>
            <a:ext cx="54864" cy="1078992"/>
          </a:xfrm>
          <a:prstGeom prst="rect">
            <a:avLst/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33672" y="157276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查询与预约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33672" y="182880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US-01 查座｜US-02 预约</a:t>
            </a:r>
            <a:endParaRPr lang="en-US" sz="8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US-03 并发抢座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909560" y="1481328"/>
            <a:ext cx="36118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909560" y="1481328"/>
            <a:ext cx="54864" cy="1078992"/>
          </a:xfrm>
          <a:prstGeom prst="rect">
            <a:avLst/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74152" y="157276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B4C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使用过程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74152" y="182880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US-04 签到｜US-05 暂离/返回</a:t>
            </a:r>
            <a:endParaRPr lang="en-US" sz="8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US-06 结束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069080" y="2743200"/>
            <a:ext cx="36118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69080" y="2743200"/>
            <a:ext cx="54864" cy="1078992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33672" y="283464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异常与释放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33672" y="309067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US-07 超时｜US-08 取消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7909560" y="2743200"/>
            <a:ext cx="36118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909560" y="2743200"/>
            <a:ext cx="54864" cy="1078992"/>
          </a:xfrm>
          <a:prstGeom prst="rect">
            <a:avLst/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74152" y="283464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B4C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管理业务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074152" y="309067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US-09 配规则｜US-10 关资源</a:t>
            </a:r>
            <a:endParaRPr lang="en-US" sz="88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US-11 查记录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4069080" y="4005072"/>
            <a:ext cx="36118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069080" y="4005072"/>
            <a:ext cx="54864" cy="1078992"/>
          </a:xfrm>
          <a:prstGeom prst="rect">
            <a:avLst/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33672" y="409651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个人记录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233672" y="435254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US-12 我的预约与考勤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7909560" y="4005072"/>
            <a:ext cx="3611880" cy="1078992"/>
          </a:xfrm>
          <a:prstGeom prst="roundRect">
            <a:avLst>
              <a:gd name="adj" fmla="val 6780"/>
            </a:avLst>
          </a:prstGeom>
          <a:solidFill>
            <a:srgbClr val="FDF1E0"/>
          </a:solidFill>
          <a:ln w="9525">
            <a:solidFill>
              <a:srgbClr val="FDF1E0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092440" y="40965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下一页：US-03 并发抢座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092440" y="437083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5A42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两个人同时点“预约”，</a:t>
            </a:r>
            <a:endParaRPr lang="en-US" sz="9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5A42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只能成功一个。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502920" y="5349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个场景覆盖“约—用—管”，每个都有正常流程和失败处理。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2920" y="57607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 SRS 第 3 章；US 与 FR / AC 可追溯。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502920" y="6446520"/>
            <a:ext cx="11185855" cy="9144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48" name="Text 45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知行有座队 · 第三次作业 需求分析 · SRS V2.0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231575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用户场景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858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同一座位同一时段，只能有一个成功预约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US-03：两个人同时抢同一个座位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685800" cy="41148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4173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2E9E8F"/>
          </a:solidFill>
          <a:ln w="9525">
            <a:solidFill>
              <a:srgbClr val="2E9E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173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 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43000" y="1810512"/>
            <a:ext cx="9144" cy="3995928"/>
          </a:xfrm>
          <a:prstGeom prst="line">
            <a:avLst/>
          </a:prstGeom>
          <a:noFill/>
          <a:ln w="12700">
            <a:solidFill>
              <a:srgbClr val="C9D4DD"/>
            </a:solidFill>
            <a:prstDash val="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496312" y="14173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D98A2B"/>
          </a:solidFill>
          <a:ln w="9525">
            <a:solidFill>
              <a:srgbClr val="D98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4173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 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810512"/>
            <a:ext cx="9144" cy="3995928"/>
          </a:xfrm>
          <a:prstGeom prst="line">
            <a:avLst/>
          </a:prstGeom>
          <a:noFill/>
          <a:ln w="12700">
            <a:solidFill>
              <a:srgbClr val="C9D4DD"/>
            </a:solidFill>
            <a:prstDash val="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148072" y="14173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1F3A5F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48072" y="14173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06440" y="1810512"/>
            <a:ext cx="9144" cy="3995928"/>
          </a:xfrm>
          <a:prstGeom prst="line">
            <a:avLst/>
          </a:prstGeom>
          <a:noFill/>
          <a:ln w="12700">
            <a:solidFill>
              <a:srgbClr val="C9D4DD"/>
            </a:solidFill>
            <a:prstDash val="dash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616952" y="14173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2B4C6F"/>
          </a:solidFill>
          <a:ln w="9525">
            <a:solidFill>
              <a:srgbClr val="2B4C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16952" y="14173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75320" y="1810512"/>
            <a:ext cx="9144" cy="3995928"/>
          </a:xfrm>
          <a:prstGeom prst="line">
            <a:avLst/>
          </a:prstGeom>
          <a:noFill/>
          <a:ln w="12700">
            <a:solidFill>
              <a:srgbClr val="C9D4DD"/>
            </a:solidFill>
            <a:prstDash val="dash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074920" y="2606040"/>
            <a:ext cx="3794760" cy="1874520"/>
          </a:xfrm>
          <a:prstGeom prst="rect">
            <a:avLst/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26517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同一事务边界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43000" y="2148840"/>
            <a:ext cx="4663440" cy="9144"/>
          </a:xfrm>
          <a:prstGeom prst="line">
            <a:avLst/>
          </a:prstGeom>
          <a:noFill/>
          <a:ln w="19050">
            <a:solidFill>
              <a:srgbClr val="2E9E8F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417320" y="19019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提交 14:00—16:00 · S1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3154680" y="2450592"/>
            <a:ext cx="2651760" cy="9144"/>
          </a:xfrm>
          <a:prstGeom prst="line">
            <a:avLst/>
          </a:prstGeom>
          <a:noFill/>
          <a:ln w="19050">
            <a:solidFill>
              <a:srgbClr val="D98A2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310128" y="22128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同时提交同一座位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806440" y="2944368"/>
            <a:ext cx="2468880" cy="9144"/>
          </a:xfrm>
          <a:prstGeom prst="line">
            <a:avLst/>
          </a:prstGeom>
          <a:noFill/>
          <a:ln w="19050">
            <a:solidFill>
              <a:srgbClr val="1F3A5F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897880" y="27066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开启事务，重新校验重叠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 flipH="1">
            <a:off x="5806440" y="3310128"/>
            <a:ext cx="2468880" cy="9144"/>
          </a:xfrm>
          <a:prstGeom prst="line">
            <a:avLst/>
          </a:prstGeom>
          <a:noFill/>
          <a:ln w="19050">
            <a:solidFill>
              <a:srgbClr val="2B4C6F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897880" y="30723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唯一约束：仅 1 条可写入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 flipH="1">
            <a:off x="1143000" y="4041648"/>
            <a:ext cx="4663440" cy="9144"/>
          </a:xfrm>
          <a:prstGeom prst="line">
            <a:avLst/>
          </a:prstGeom>
          <a:noFill/>
          <a:ln w="19050">
            <a:solidFill>
              <a:srgbClr val="2E9E8F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508760" y="38039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成功：返回预约编号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 flipH="1">
            <a:off x="3154680" y="4590288"/>
            <a:ext cx="2651760" cy="9144"/>
          </a:xfrm>
          <a:prstGeom prst="line">
            <a:avLst/>
          </a:prstGeom>
          <a:noFill/>
          <a:ln w="19050">
            <a:solidFill>
              <a:srgbClr val="B94A3F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3310128" y="43525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94A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失败：409 SEAT_CONFLICT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9189720" y="1417320"/>
            <a:ext cx="2514600" cy="4160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326880" y="15361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AC-05  并发验收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326880" y="1810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10012680" y="19933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100 并发请求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26880" y="25786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恰好 1 次成功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326880" y="29992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00032" y="2999232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重复成功 = 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497312" y="299923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70464" y="2999232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失败方返回原因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9326880" y="34747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个请求同时抢同一座位：只能成功 1 个，其他必须知道为什么失败。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326880" y="452628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FDF1E0"/>
          </a:solidFill>
          <a:ln w="12700">
            <a:solidFill>
              <a:srgbClr val="FDF1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00032" y="4526280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验收目标 · 尚未实测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326880" y="49560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失败的人不用重填条件，直接换座。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02920" y="5989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关键：查、判、写在同一事务；数据库唯一约束兜底；version 乐观锁重试。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02920" y="6446520"/>
            <a:ext cx="11185855" cy="9144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48" name="Text 45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知行有座队 · 第三次作业 需求分析 · SRS V2.0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231575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规则与状态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858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条规则，把预约流程定清楚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种状态｜3 个终态｜重复操作不重复生效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685800" cy="41148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736092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stat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197" y="1481328"/>
            <a:ext cx="7004366" cy="44074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17220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4-1  预约状态迁移图（SRS V2.0）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8092440" y="1417320"/>
            <a:ext cx="36118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0" y="1490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BR-01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823960" y="14721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单次预约最长时长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29600" y="17647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4 小时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092440" y="2313432"/>
            <a:ext cx="36118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29600" y="2386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BR-02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823960" y="23682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最多提前预约天数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29600" y="26609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7 天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092440" y="3209544"/>
            <a:ext cx="36118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229600" y="32826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BR-04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823960" y="32644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签到窗口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229600" y="355701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开始前 10 分钟 — 开始后 15 分钟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092440" y="4105656"/>
            <a:ext cx="361188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229600" y="41788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BR-06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823960" y="4160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唯一有效预约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229600" y="44531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同座位 / 同学生，重叠时段最多 1 条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092440" y="5074920"/>
            <a:ext cx="3611880" cy="932688"/>
          </a:xfrm>
          <a:prstGeom prst="roundRect">
            <a:avLst>
              <a:gd name="adj" fmla="val 7843"/>
            </a:avLst>
          </a:prstGeom>
          <a:solidFill>
            <a:srgbClr val="FDF1E0"/>
          </a:solidFill>
          <a:ln w="9525">
            <a:solidFill>
              <a:srgbClr val="FDF1E0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229600" y="514807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拟定值，待管理员确认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5394960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20" dirty="0">
                <a:solidFill>
                  <a:srgbClr val="5A42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小时、7 天、30 分钟、签到窗口都是拟定值，待管理员确认。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8092440" y="61447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到了终态就不要再变；重复操作不覆盖第一次记录。</a:t>
            </a:r>
            <a:endParaRPr lang="en-US" sz="820" dirty="0"/>
          </a:p>
        </p:txBody>
      </p:sp>
      <p:sp>
        <p:nvSpPr>
          <p:cNvPr id="30" name="Shape 26"/>
          <p:cNvSpPr/>
          <p:nvPr/>
        </p:nvSpPr>
        <p:spPr>
          <a:xfrm>
            <a:off x="502920" y="6446520"/>
            <a:ext cx="11185855" cy="9144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31" name="Text 27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知行有座队 · 第三次作业 需求分析 · SRS V2.0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11231575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研发内容 · 类图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858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一张图看清：系统里有哪些类、谁负责什么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本次研发内容：13 个类（含 ReservationService）；资源、记录、规则、服务四层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685800" cy="41148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52120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class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80" y="1426464"/>
            <a:ext cx="4460160" cy="46817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23620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4-2  系统类图（SRS V2.0 第 24 页）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897880" y="1389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读图顺序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97880" y="1664208"/>
            <a:ext cx="5715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35040" y="1847088"/>
            <a:ext cx="365760" cy="365760"/>
          </a:xfrm>
          <a:prstGeom prst="ellipse">
            <a:avLst/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510528" y="17373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用户层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510528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9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← Student / Administrator</a:t>
            </a:r>
            <a:endParaRPr lang="en-US" sz="890" dirty="0"/>
          </a:p>
        </p:txBody>
      </p:sp>
      <p:sp>
        <p:nvSpPr>
          <p:cNvPr id="15" name="Shape 12"/>
          <p:cNvSpPr/>
          <p:nvPr/>
        </p:nvSpPr>
        <p:spPr>
          <a:xfrm>
            <a:off x="5897880" y="2514600"/>
            <a:ext cx="5715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35040" y="2697480"/>
            <a:ext cx="365760" cy="365760"/>
          </a:xfrm>
          <a:prstGeom prst="ellipse">
            <a:avLst/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3504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510528" y="25877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B4C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10528" y="28437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9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StudyRoom 1—* Seat、OpeningSchedule</a:t>
            </a:r>
            <a:endParaRPr lang="en-US" sz="890" dirty="0"/>
          </a:p>
        </p:txBody>
      </p:sp>
      <p:sp>
        <p:nvSpPr>
          <p:cNvPr id="20" name="Shape 17"/>
          <p:cNvSpPr/>
          <p:nvPr/>
        </p:nvSpPr>
        <p:spPr>
          <a:xfrm>
            <a:off x="5897880" y="3364992"/>
            <a:ext cx="57150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035040" y="3547872"/>
            <a:ext cx="365760" cy="365760"/>
          </a:xfrm>
          <a:prstGeom prst="ellipse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10528" y="343814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记录层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510528" y="369417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9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谁、在什么时候、用了哪个座位</a:t>
            </a:r>
            <a:endParaRPr lang="en-US" sz="890" dirty="0"/>
          </a:p>
        </p:txBody>
      </p:sp>
      <p:sp>
        <p:nvSpPr>
          <p:cNvPr id="25" name="Shape 22"/>
          <p:cNvSpPr/>
          <p:nvPr/>
        </p:nvSpPr>
        <p:spPr>
          <a:xfrm>
            <a:off x="5897880" y="4215384"/>
            <a:ext cx="5715000" cy="731520"/>
          </a:xfrm>
          <a:prstGeom prst="roundRect">
            <a:avLst>
              <a:gd name="adj" fmla="val 10000"/>
            </a:avLst>
          </a:prstGeom>
          <a:solidFill>
            <a:srgbClr val="F2FAF8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035040" y="4398264"/>
            <a:ext cx="365760" cy="3657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35040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510528" y="42885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规则与服务层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510528" y="454456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9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规则集中管；冲突校验只在一个地方做</a:t>
            </a:r>
            <a:endParaRPr lang="en-US" sz="890" dirty="0"/>
          </a:p>
        </p:txBody>
      </p:sp>
      <p:sp>
        <p:nvSpPr>
          <p:cNvPr id="30" name="Text 27"/>
          <p:cNvSpPr/>
          <p:nvPr/>
        </p:nvSpPr>
        <p:spPr>
          <a:xfrm>
            <a:off x="5897880" y="5074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三处设计取舍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43600" y="530352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资源和记录分开：有什么 / 谁用了</a:t>
            </a:r>
            <a:endParaRPr lang="en-US" sz="880" dirty="0"/>
          </a:p>
        </p:txBody>
      </p:sp>
      <p:sp>
        <p:nvSpPr>
          <p:cNvPr id="32" name="Text 29"/>
          <p:cNvSpPr/>
          <p:nvPr/>
        </p:nvSpPr>
        <p:spPr>
          <a:xfrm>
            <a:off x="5943600" y="554126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规则集中：不在每个页面各写一套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5943600" y="57790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冲突校验集中：只在一个服务里做</a:t>
            </a:r>
            <a:endParaRPr lang="en-US" sz="880" dirty="0"/>
          </a:p>
        </p:txBody>
      </p:sp>
      <p:sp>
        <p:nvSpPr>
          <p:cNvPr id="34" name="Text 31"/>
          <p:cNvSpPr/>
          <p:nvPr/>
        </p:nvSpPr>
        <p:spPr>
          <a:xfrm>
            <a:off x="5897880" y="608076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个类；并发控制只在一个服务里。下一页看 4 个核心类。</a:t>
            </a:r>
            <a:endParaRPr lang="en-US" sz="880" dirty="0"/>
          </a:p>
        </p:txBody>
      </p:sp>
      <p:sp>
        <p:nvSpPr>
          <p:cNvPr id="36" name="Shape 32"/>
          <p:cNvSpPr/>
          <p:nvPr/>
        </p:nvSpPr>
        <p:spPr>
          <a:xfrm>
            <a:off x="502920" y="6446520"/>
            <a:ext cx="11185855" cy="9144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37" name="Text 33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知行有座队 · 第三次作业 需求分析 · SRS V2.0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11231575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研发内容 · 类图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858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个核心类撑起“预约—占座—释放”闭环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研发内容核心：Student / Seat / Reservation / ReservationService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685800" cy="41148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333756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17320"/>
            <a:ext cx="3337560" cy="384048"/>
          </a:xfrm>
          <a:prstGeom prst="rect">
            <a:avLst/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1444752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" y="1655064"/>
            <a:ext cx="3081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EAF2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学生角色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630936" y="187452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83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studentNo: String</a:t>
            </a:r>
            <a:endParaRPr lang="en-US" sz="8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83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String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612648" y="2715768"/>
            <a:ext cx="3118104" cy="9144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630936" y="2770632"/>
            <a:ext cx="3081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4000"/>
              </a:lnSpc>
              <a:buNone/>
            </a:pPr>
            <a:r>
              <a:rPr lang="en-US" sz="810" dirty="0">
                <a:solidFill>
                  <a:srgbClr val="2B4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reserve(seat, slot)</a:t>
            </a:r>
            <a:endParaRPr lang="en-US" sz="81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810" dirty="0">
                <a:solidFill>
                  <a:srgbClr val="2B4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cancel(reservation)</a:t>
            </a:r>
            <a:endParaRPr lang="en-US" sz="81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810" dirty="0">
                <a:solidFill>
                  <a:srgbClr val="2B4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checkIn()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3977640" y="1417320"/>
            <a:ext cx="333756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77640" y="1417320"/>
            <a:ext cx="3337560" cy="384048"/>
          </a:xfrm>
          <a:prstGeom prst="rect">
            <a:avLst/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05656" y="1444752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05656" y="1655064"/>
            <a:ext cx="3081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EAF2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座位资源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4105656" y="187452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83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seatId: Long</a:t>
            </a:r>
            <a:endParaRPr lang="en-US" sz="8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83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seatNo: String</a:t>
            </a:r>
            <a:endParaRPr lang="en-US" sz="8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83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seatType: String</a:t>
            </a:r>
            <a:endParaRPr lang="en-US" sz="8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83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status: Status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4087368" y="2715768"/>
            <a:ext cx="3118104" cy="9144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4105656" y="2770632"/>
            <a:ext cx="3081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4000"/>
              </a:lnSpc>
              <a:buNone/>
            </a:pPr>
            <a:r>
              <a:rPr lang="en-US" sz="810" dirty="0">
                <a:solidFill>
                  <a:srgbClr val="2B4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isAvailable(slot)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502920" y="3703320"/>
            <a:ext cx="333756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703320"/>
            <a:ext cx="3337560" cy="384048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3730752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Reservation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" y="3941064"/>
            <a:ext cx="3081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EAF2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预约单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630936" y="416052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83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reservationNo: String</a:t>
            </a:r>
            <a:endParaRPr lang="en-US" sz="8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83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studentId: Long</a:t>
            </a:r>
            <a:endParaRPr lang="en-US" sz="8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83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seatId: Long</a:t>
            </a:r>
            <a:endParaRPr lang="en-US" sz="8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83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startTime / endTime</a:t>
            </a:r>
            <a:endParaRPr lang="en-US" sz="8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83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status, version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612648" y="5001768"/>
            <a:ext cx="3118104" cy="9144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630936" y="5056632"/>
            <a:ext cx="3081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4000"/>
              </a:lnSpc>
              <a:buNone/>
            </a:pPr>
            <a:r>
              <a:rPr lang="en-US" sz="810" dirty="0">
                <a:solidFill>
                  <a:srgbClr val="2B4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submit()</a:t>
            </a:r>
            <a:endParaRPr lang="en-US" sz="81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810" dirty="0">
                <a:solidFill>
                  <a:srgbClr val="2B4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checkIn()</a:t>
            </a:r>
            <a:endParaRPr lang="en-US" sz="81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810" dirty="0">
                <a:solidFill>
                  <a:srgbClr val="2B4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leaveTemporarily()</a:t>
            </a:r>
            <a:endParaRPr lang="en-US" sz="81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810" dirty="0">
                <a:solidFill>
                  <a:srgbClr val="2B4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returnBack()</a:t>
            </a:r>
            <a:endParaRPr lang="en-US" sz="81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810" dirty="0">
                <a:solidFill>
                  <a:srgbClr val="2B4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complete()</a:t>
            </a:r>
            <a:endParaRPr lang="en-US" sz="81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810" dirty="0">
                <a:solidFill>
                  <a:srgbClr val="2B4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expire()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3977640" y="3703320"/>
            <a:ext cx="333756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977640" y="3703320"/>
            <a:ext cx="3337560" cy="38404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05656" y="3730752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ReservationService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05656" y="3941064"/>
            <a:ext cx="3081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EAF2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事务边界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4105656" y="416052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83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txManager: TransactionManager</a:t>
            </a:r>
            <a:endParaRPr lang="en-US" sz="83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83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rule: ReservationRule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4087368" y="5001768"/>
            <a:ext cx="3118104" cy="9144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4105656" y="5056632"/>
            <a:ext cx="3081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94000"/>
              </a:lnSpc>
              <a:buNone/>
            </a:pPr>
            <a:r>
              <a:rPr lang="en-US" sz="810" dirty="0">
                <a:solidFill>
                  <a:srgbClr val="2B4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create(reservation)</a:t>
            </a:r>
            <a:endParaRPr lang="en-US" sz="81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810" dirty="0">
                <a:solidFill>
                  <a:srgbClr val="2B4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cancel(id)</a:t>
            </a:r>
            <a:endParaRPr lang="en-US" sz="81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810" dirty="0">
                <a:solidFill>
                  <a:srgbClr val="2B4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expire(now)</a:t>
            </a:r>
            <a:endParaRPr lang="en-US" sz="810" dirty="0"/>
          </a:p>
          <a:p>
            <a:pPr indent="0" marL="0">
              <a:lnSpc>
                <a:spcPct val="94000"/>
              </a:lnSpc>
              <a:buNone/>
            </a:pPr>
            <a:r>
              <a:rPr lang="en-US" sz="810" dirty="0">
                <a:solidFill>
                  <a:srgbClr val="2B4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release(seat, slot)</a:t>
            </a:r>
            <a:endParaRPr lang="en-US" sz="810" dirty="0"/>
          </a:p>
        </p:txBody>
      </p:sp>
      <p:sp>
        <p:nvSpPr>
          <p:cNvPr id="34" name="Text 32"/>
          <p:cNvSpPr/>
          <p:nvPr/>
        </p:nvSpPr>
        <p:spPr>
          <a:xfrm>
            <a:off x="7589520" y="1389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关键关系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89520" y="16642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Student 1 → 0..* Reservation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7589520" y="18653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一个学生可有多条预约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0" y="223113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Seat 1 → 0..* Reservation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7589520" y="243230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一个座位可分时段预约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589520" y="279806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StudyRoom 1 → 1..* Seat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7589520" y="29992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一个自习室有多个座位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589520" y="336499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ReservationService → Reservation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7589520" y="35661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/ 更新在同一事务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589520" y="39319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ReservationService → ReservationRule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7589520" y="41330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读取当前规则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58952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设计取舍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635240" y="49194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冲突校验集中在服务层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635240" y="51755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version 做乐观锁重试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635240" y="54315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终态重复操作不重复释放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02920" y="5989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P7 看全局，P8 看关键 4 类；完整说明见 SRS。</a:t>
            </a:r>
            <a:endParaRPr lang="en-US" sz="880" dirty="0"/>
          </a:p>
        </p:txBody>
      </p:sp>
      <p:sp>
        <p:nvSpPr>
          <p:cNvPr id="51" name="Shape 48"/>
          <p:cNvSpPr/>
          <p:nvPr/>
        </p:nvSpPr>
        <p:spPr>
          <a:xfrm>
            <a:off x="502920" y="6446520"/>
            <a:ext cx="11185855" cy="9144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52" name="Text 49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知行有座队 · 第三次作业 需求分析 · SRS V2.0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11231575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界面原型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858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学生端围绕“查—约—签—用”完成闭环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状态可见 · 一步一确认 · 错误可恢复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685800" cy="41148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登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137" y="1463040"/>
            <a:ext cx="3324286" cy="2240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60520" y="146304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座位查询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073" y="1463040"/>
            <a:ext cx="3315614" cy="2240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2920" y="388620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预约确认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14713"/>
            <a:ext cx="3474720" cy="193753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160520" y="388620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3" descr="我的预约与考勤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4019950"/>
            <a:ext cx="3474720" cy="192706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0100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三条设计原则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8001000" y="1691640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8156448" y="17647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状态可见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8156448" y="203911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现在什么状态、下一步点哪里，一眼能看到。</a:t>
            </a:r>
            <a:endParaRPr lang="en-US" sz="880" dirty="0"/>
          </a:p>
        </p:txBody>
      </p:sp>
      <p:sp>
        <p:nvSpPr>
          <p:cNvPr id="18" name="Shape 12"/>
          <p:cNvSpPr/>
          <p:nvPr/>
        </p:nvSpPr>
        <p:spPr>
          <a:xfrm>
            <a:off x="8001000" y="2715768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8156448" y="27889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一步一确认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8156448" y="30632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会影响别人的操作，先确认再执行。</a:t>
            </a:r>
            <a:endParaRPr lang="en-US" sz="880" dirty="0"/>
          </a:p>
        </p:txBody>
      </p:sp>
      <p:sp>
        <p:nvSpPr>
          <p:cNvPr id="21" name="Shape 15"/>
          <p:cNvSpPr/>
          <p:nvPr/>
        </p:nvSpPr>
        <p:spPr>
          <a:xfrm>
            <a:off x="8001000" y="3739896"/>
            <a:ext cx="361188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8156448" y="3813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错误可恢复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8156448" y="408736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失败不用重填，直接改或换座。</a:t>
            </a:r>
            <a:endParaRPr lang="en-US" sz="880" dirty="0"/>
          </a:p>
        </p:txBody>
      </p:sp>
      <p:sp>
        <p:nvSpPr>
          <p:cNvPr id="24" name="Shape 18"/>
          <p:cNvSpPr/>
          <p:nvPr/>
        </p:nvSpPr>
        <p:spPr>
          <a:xfrm>
            <a:off x="8001000" y="4892040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2FAF8"/>
          </a:solidFill>
          <a:ln w="9525">
            <a:solidFill>
              <a:srgbClr val="E6F4F1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8156448" y="49743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关键交互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156448" y="523036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冲突后保留筛选条件；</a:t>
            </a:r>
            <a:endParaRPr lang="en-US" sz="8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暂离时显示还剩多久。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502920" y="619963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5-2  学生端关键界面线框图（设计原型，非已开发系统）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502920" y="6446520"/>
            <a:ext cx="11185855" cy="9144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30" name="Text 23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知行有座队 · 第三次作业 需求分析 · SRS V2.0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11231575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界面原型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858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管理端：规则能配、资源能关、记录能查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配规则｜关资源｜查日志｜控权限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685800" cy="41148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规则配置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2514600" cy="4343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pic>
        <p:nvPicPr>
          <p:cNvPr id="8" name="Image 0" descr="规则配置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267" y="1719072"/>
            <a:ext cx="2217906" cy="4343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154680" y="14630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资源关闭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154680" y="1719072"/>
            <a:ext cx="2514600" cy="4343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资源关闭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027" y="1719072"/>
            <a:ext cx="2217906" cy="4343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4630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使用记录与日志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806440" y="1719072"/>
            <a:ext cx="2514600" cy="4343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2" descr="使用记录与日志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339" y="1719072"/>
            <a:ext cx="2328802" cy="4343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4108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四个管理能力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8641080" y="1719072"/>
            <a:ext cx="2971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778240" y="179222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8778240" y="204825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保存生成新版本，只影响新预约</a:t>
            </a:r>
            <a:endParaRPr lang="en-US" sz="820" dirty="0"/>
          </a:p>
        </p:txBody>
      </p:sp>
      <p:sp>
        <p:nvSpPr>
          <p:cNvPr id="19" name="Shape 14"/>
          <p:cNvSpPr/>
          <p:nvPr/>
        </p:nvSpPr>
        <p:spPr>
          <a:xfrm>
            <a:off x="8641080" y="2615184"/>
            <a:ext cx="2971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778240" y="268833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影响范围预览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778240" y="29443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关资源前先看影响多少人</a:t>
            </a:r>
            <a:endParaRPr lang="en-US" sz="820" dirty="0"/>
          </a:p>
        </p:txBody>
      </p:sp>
      <p:sp>
        <p:nvSpPr>
          <p:cNvPr id="22" name="Shape 17"/>
          <p:cNvSpPr/>
          <p:nvPr/>
        </p:nvSpPr>
        <p:spPr>
          <a:xfrm>
            <a:off x="8641080" y="3511296"/>
            <a:ext cx="2971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778240" y="358444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日志追溯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778240" y="38404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谁、何时、改了什么，都有记录</a:t>
            </a:r>
            <a:endParaRPr lang="en-US" sz="820" dirty="0"/>
          </a:p>
        </p:txBody>
      </p:sp>
      <p:sp>
        <p:nvSpPr>
          <p:cNvPr id="25" name="Shape 20"/>
          <p:cNvSpPr/>
          <p:nvPr/>
        </p:nvSpPr>
        <p:spPr>
          <a:xfrm>
            <a:off x="8641080" y="4407408"/>
            <a:ext cx="297180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8778240" y="448056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8778240" y="47365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权限在服务端校验，不靠隐藏按钮</a:t>
            </a:r>
            <a:endParaRPr lang="en-US" sz="820" dirty="0"/>
          </a:p>
        </p:txBody>
      </p:sp>
      <p:sp>
        <p:nvSpPr>
          <p:cNvPr id="28" name="Shape 23"/>
          <p:cNvSpPr/>
          <p:nvPr/>
        </p:nvSpPr>
        <p:spPr>
          <a:xfrm>
            <a:off x="8641080" y="5440680"/>
            <a:ext cx="2971800" cy="640080"/>
          </a:xfrm>
          <a:prstGeom prst="roundRect">
            <a:avLst>
              <a:gd name="adj" fmla="val 11429"/>
            </a:avLst>
          </a:prstGeom>
          <a:solidFill>
            <a:srgbClr val="FDF1E0"/>
          </a:solidFill>
          <a:ln w="9525">
            <a:solidFill>
              <a:srgbClr val="FDF1E0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8778240" y="55046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5A42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先看影响范围，再确认关闭。</a:t>
            </a:r>
            <a:endParaRPr lang="en-US" sz="830" dirty="0"/>
          </a:p>
        </p:txBody>
      </p:sp>
      <p:sp>
        <p:nvSpPr>
          <p:cNvPr id="30" name="Text 25"/>
          <p:cNvSpPr/>
          <p:nvPr/>
        </p:nvSpPr>
        <p:spPr>
          <a:xfrm>
            <a:off x="502920" y="619963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5-3  管理端关键界面线框图（设计原型，非已开发系统）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502920" y="6446520"/>
            <a:ext cx="11185855" cy="9144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33" name="Text 27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知行有座队 · 第三次作业 需求分析 · SRS V2.0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11231575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功能需求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858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条功能：先做核心闭环，再做管理增强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8 / Should 5 / Could 2；14 个 API、9 类错误码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685800" cy="41148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1F3A5F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1732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必须实现  Must Have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0" y="1417320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05740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FR-01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197864" y="20574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登录与角色识别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502920" y="2459736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45973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FR-03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97864" y="24597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座位查询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02920" y="2862072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8620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FR-04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97864" y="28620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提交预约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02920" y="3264408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326440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FR-05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97864" y="32644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冲突校验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02920" y="3666744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366674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FR-06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197864" y="366674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签到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02920" y="4069080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406908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FR-07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197864" y="40690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暂离与返回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502920" y="4471416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447141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FR-08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197864" y="447141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结束与超时释放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02920" y="4873752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487375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FR-12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1197864" y="48737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规则配置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4343400" y="1417320"/>
            <a:ext cx="3657600" cy="530352"/>
          </a:xfrm>
          <a:prstGeom prst="roundRect">
            <a:avLst>
              <a:gd name="adj" fmla="val 13793"/>
            </a:avLst>
          </a:prstGeom>
          <a:solidFill>
            <a:srgbClr val="2E9E8F"/>
          </a:solidFill>
          <a:ln w="9525">
            <a:solidFill>
              <a:srgbClr val="2E9E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07992" y="1417320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应当实现  Should Have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498080" y="1417320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343400" y="2057400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53128" y="205740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FR-02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5038344" y="20574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账号与密码管理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4343400" y="2459736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53128" y="245973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FR-09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5038344" y="24597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取消预约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4343400" y="2862072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53128" y="28620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FR-10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5038344" y="28620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资源关闭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4343400" y="3264408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53128" y="326440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FR-11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5038344" y="32644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记录查询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4343400" y="3666744"/>
            <a:ext cx="365760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53128" y="366674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FR-13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5038344" y="366674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操作日志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8183880" y="1417320"/>
            <a:ext cx="3474720" cy="530352"/>
          </a:xfrm>
          <a:prstGeom prst="roundRect">
            <a:avLst>
              <a:gd name="adj" fmla="val 13793"/>
            </a:avLst>
          </a:prstGeom>
          <a:solidFill>
            <a:srgbClr val="D98A2B"/>
          </a:solidFill>
          <a:ln w="9525">
            <a:solidFill>
              <a:srgbClr val="D98A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48472" y="141732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可以延后  Could Have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1155680" y="1417320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183880" y="2057400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93608" y="205740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D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FR-14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8878824" y="20574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站内通知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8183880" y="2459736"/>
            <a:ext cx="34747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93608" y="2459736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D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FR-15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8878824" y="245973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数据导出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8183880" y="3108960"/>
            <a:ext cx="3474720" cy="1024128"/>
          </a:xfrm>
          <a:prstGeom prst="roundRect">
            <a:avLst>
              <a:gd name="adj" fmla="val 7143"/>
            </a:avLst>
          </a:prstGeom>
          <a:solidFill>
            <a:srgbClr val="F2FAF8"/>
          </a:solidFill>
          <a:ln w="9525">
            <a:solidFill>
              <a:srgbClr val="E6F4F1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8321040" y="31821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核心闭环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321040" y="3429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 → 预约 → 签到 → 释放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321040" y="3730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先把这条链跑通。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8183880" y="429768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FDF1E0"/>
          </a:solidFill>
          <a:ln w="9525">
            <a:solidFill>
              <a:srgbClr val="FDF1E0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8321040" y="43708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D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本期明确不做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321040" y="46177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780" dirty="0">
                <a:solidFill>
                  <a:srgbClr val="5A42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支付、人脸、门禁、跨校、推荐、消息推送。</a:t>
            </a:r>
            <a:endParaRPr lang="en-US" sz="780" dirty="0"/>
          </a:p>
        </p:txBody>
      </p:sp>
      <p:sp>
        <p:nvSpPr>
          <p:cNvPr id="67" name="Text 65"/>
          <p:cNvSpPr/>
          <p:nvPr/>
        </p:nvSpPr>
        <p:spPr>
          <a:xfrm>
            <a:off x="502920" y="5486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个主要 API · 9 类错误码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02920" y="57790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接口统一返回 code / message / data；冲突要说清原因。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502920" y="6446520"/>
            <a:ext cx="11185855" cy="9144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71" name="Text 68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知行有座队 · 第三次作业 需求分析 · SRS V2.0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11231575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验收与追溯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858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每条关键需求都能落到可执行的验收用例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条功能验收 · 9 条界面验收 · US→FR→BR→AC 可追溯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685800" cy="41148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21031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63040"/>
            <a:ext cx="54864" cy="1261872"/>
          </a:xfrm>
          <a:prstGeom prst="rect">
            <a:avLst/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5544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AC-01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49224" y="17922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越权访问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649224" y="20848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学生访问管理端接口 → 403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0" y="1463040"/>
            <a:ext cx="21031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0" y="1463040"/>
            <a:ext cx="54864" cy="1261872"/>
          </a:xfrm>
          <a:prstGeom prst="rect">
            <a:avLst/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9504" y="15544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2B4C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AC-03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2889504" y="17922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提交预约成功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2889504" y="208483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返回预约编号 → 状态待签到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880360"/>
            <a:ext cx="21031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880360"/>
            <a:ext cx="54864" cy="1261872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29718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D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AC-05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49224" y="3209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并发预约冲突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649224" y="35021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并发 → 恰好 1 次成功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0" y="2880360"/>
            <a:ext cx="21031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0" y="2880360"/>
            <a:ext cx="54864" cy="1261872"/>
          </a:xfrm>
          <a:prstGeom prst="rect">
            <a:avLst/>
          </a:prstGeom>
          <a:solidFill>
            <a:srgbClr val="B94A3F"/>
          </a:solidFill>
          <a:ln w="12700">
            <a:solidFill>
              <a:srgbClr val="B94A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9504" y="29718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B94A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AC-06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2889504" y="3209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未签到超时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889504" y="35021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超过窗口 → 已超时并释放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257800" y="141732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US-03 为例：一条链讲清需求如何被验证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57800" y="1737360"/>
            <a:ext cx="63550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257800" y="1737360"/>
            <a:ext cx="64008" cy="676656"/>
          </a:xfrm>
          <a:prstGeom prst="rect">
            <a:avLst/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18105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US-03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12280" y="18105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并发预约同一座位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0287000" y="1810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用户场景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8412480" y="2414016"/>
            <a:ext cx="9144" cy="237744"/>
          </a:xfrm>
          <a:prstGeom prst="line">
            <a:avLst/>
          </a:prstGeom>
          <a:noFill/>
          <a:ln w="15240">
            <a:solidFill>
              <a:srgbClr val="D9E1E8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257800" y="2670048"/>
            <a:ext cx="63550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257800" y="2670048"/>
            <a:ext cx="64008" cy="676656"/>
          </a:xfrm>
          <a:prstGeom prst="rect">
            <a:avLst/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27432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B4C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FR-04 / FR-05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12280" y="27432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提交预约 / 冲突校验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10287000" y="27432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8412480" y="3346704"/>
            <a:ext cx="9144" cy="237744"/>
          </a:xfrm>
          <a:prstGeom prst="line">
            <a:avLst/>
          </a:prstGeom>
          <a:noFill/>
          <a:ln w="15240">
            <a:solidFill>
              <a:srgbClr val="D9E1E8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257800" y="3602736"/>
            <a:ext cx="63550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57800" y="3602736"/>
            <a:ext cx="64008" cy="676656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0680" y="36758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BR-06 / BR-10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12280" y="36758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唯一有效 / 并发写入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10287000" y="36758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8412480" y="4279392"/>
            <a:ext cx="9144" cy="237744"/>
          </a:xfrm>
          <a:prstGeom prst="line">
            <a:avLst/>
          </a:prstGeom>
          <a:noFill/>
          <a:ln w="15240">
            <a:solidFill>
              <a:srgbClr val="D9E1E8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257800" y="4535424"/>
            <a:ext cx="6355080" cy="676656"/>
          </a:xfrm>
          <a:prstGeom prst="roundRect">
            <a:avLst>
              <a:gd name="adj" fmla="val 10811"/>
            </a:avLst>
          </a:prstGeom>
          <a:solidFill>
            <a:srgbClr val="F2FAF8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257800" y="4535424"/>
            <a:ext cx="64008" cy="676656"/>
          </a:xfrm>
          <a:prstGeom prst="rect">
            <a:avLst/>
          </a:prstGeom>
          <a:solidFill>
            <a:srgbClr val="B94A3F"/>
          </a:solidFill>
          <a:ln w="12700">
            <a:solidFill>
              <a:srgbClr val="B94A3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40680" y="46085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B94A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AC-05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812280" y="46085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并发 → 恰好 1 次成功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10287000" y="46085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验收用例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502920" y="53949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6072" y="5394960"/>
            <a:ext cx="1271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条功能验收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011680" y="539496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84832" y="5394960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条界面验收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337560" y="53949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FDF1E0"/>
          </a:solidFill>
          <a:ln w="12700">
            <a:solidFill>
              <a:srgbClr val="FDF1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10712" y="539496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AC-05 / AC-15 待实测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2920" y="583387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并发测试要记录失败原因；“没重复”不等于处理正确。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02920" y="610819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用例已定义，测试记录待系统实现后补。</a:t>
            </a:r>
            <a:endParaRPr lang="en-US" sz="830" dirty="0"/>
          </a:p>
        </p:txBody>
      </p:sp>
      <p:sp>
        <p:nvSpPr>
          <p:cNvPr id="59" name="Shape 56"/>
          <p:cNvSpPr/>
          <p:nvPr/>
        </p:nvSpPr>
        <p:spPr>
          <a:xfrm>
            <a:off x="502920" y="6446520"/>
            <a:ext cx="11185855" cy="9144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60" name="Text 57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知行有座队 · 第三次作业 需求分析 · SRS V2.0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11231575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团队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858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人怎么分工：1 名队长 + 3 个小组 + 交叉复核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谁负责什么、各占多少、做到哪一步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685800" cy="41148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417320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4173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队长  孙俊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17190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D7E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统筹进度与口径一致性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3108960" y="1984248"/>
            <a:ext cx="9144" cy="118872"/>
          </a:xfrm>
          <a:prstGeom prst="line">
            <a:avLst/>
          </a:prstGeom>
          <a:noFill/>
          <a:ln w="15240">
            <a:solidFill>
              <a:srgbClr val="B9C6D2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77240" y="2103120"/>
            <a:ext cx="4663440" cy="9144"/>
          </a:xfrm>
          <a:prstGeom prst="line">
            <a:avLst/>
          </a:prstGeom>
          <a:noFill/>
          <a:ln w="15240">
            <a:solidFill>
              <a:srgbClr val="B9C6D2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777240" y="2103120"/>
            <a:ext cx="9144" cy="109728"/>
          </a:xfrm>
          <a:prstGeom prst="line">
            <a:avLst/>
          </a:prstGeom>
          <a:noFill/>
          <a:ln w="15240">
            <a:solidFill>
              <a:srgbClr val="B9C6D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108960" y="2103120"/>
            <a:ext cx="9144" cy="109728"/>
          </a:xfrm>
          <a:prstGeom prst="line">
            <a:avLst/>
          </a:prstGeom>
          <a:noFill/>
          <a:ln w="15240">
            <a:solidFill>
              <a:srgbClr val="B9C6D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440680" y="2103120"/>
            <a:ext cx="9144" cy="109728"/>
          </a:xfrm>
          <a:prstGeom prst="line">
            <a:avLst/>
          </a:prstGeom>
          <a:noFill/>
          <a:ln w="15240">
            <a:solidFill>
              <a:srgbClr val="B9C6D2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02920" y="2212848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212848"/>
            <a:ext cx="64008" cy="914400"/>
          </a:xfrm>
          <a:prstGeom prst="rect">
            <a:avLst/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304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需求与规则组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2057400" y="2286000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申子衡 · 场景/类图/规则</a:t>
            </a:r>
            <a:endParaRPr lang="en-US" sz="7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施晴 · FR/验收/追溯</a:t>
            </a:r>
            <a:endParaRPr lang="en-US" sz="7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孙俊 · 统筹/并发/接口</a:t>
            </a:r>
            <a:endParaRPr lang="en-US" sz="7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林绅 · 引言/术语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4754880" y="230428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需求写清</a:t>
            </a:r>
            <a:endParaRPr lang="en-US" sz="8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规则写死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02920" y="3236976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236976"/>
            <a:ext cx="64008" cy="914400"/>
          </a:xfrm>
          <a:prstGeom prst="rect">
            <a:avLst/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3284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2B4C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设计与界面组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2057400" y="3310128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伍俊杰 · 流程/边界</a:t>
            </a:r>
            <a:endParaRPr lang="en-US" sz="7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周逸恒 · 需求获取/可用性</a:t>
            </a:r>
            <a:endParaRPr lang="en-US" sz="7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童靖淇 · 概念图/视觉</a:t>
            </a:r>
            <a:endParaRPr lang="en-US" sz="7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许鑫泽 · 图表/格式</a:t>
            </a:r>
            <a:endParaRPr lang="en-US" sz="7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阮逸 · 交互/原型复核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4754880" y="3328416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流程走通</a:t>
            </a:r>
            <a:endParaRPr lang="en-US" sz="8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失败可恢复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02920" y="4261104"/>
            <a:ext cx="5852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261104"/>
            <a:ext cx="64008" cy="914400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3525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D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文档与展示组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2057400" y="4334256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吴翊鸣 · 博客统稿</a:t>
            </a:r>
            <a:endParaRPr lang="en-US" sz="7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杨显智 · PPT 排版</a:t>
            </a:r>
            <a:endParaRPr lang="en-US" sz="7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曾景康 · 主讲/彩排</a:t>
            </a:r>
            <a:endParaRPr lang="en-US" sz="76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尤文昊 · 发布/链接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4754880" y="435254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三份材料</a:t>
            </a:r>
            <a:endParaRPr lang="en-US" sz="8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口径一致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6629400" y="141732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贡献比例（计划值，合计 100%）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11018520" y="1417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单位：%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452360" y="1755648"/>
            <a:ext cx="9144" cy="3255264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6656832" y="1783080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申子衡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7479792" y="1828800"/>
            <a:ext cx="3252651" cy="155448"/>
          </a:xfrm>
          <a:prstGeom prst="roundRect">
            <a:avLst>
              <a:gd name="adj" fmla="val 23529"/>
            </a:avLst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78163" y="1783080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12%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6656832" y="202996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施晴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7479792" y="2075688"/>
            <a:ext cx="2710543" cy="155448"/>
          </a:xfrm>
          <a:prstGeom prst="roundRect">
            <a:avLst>
              <a:gd name="adj" fmla="val 23529"/>
            </a:avLst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36055" y="2029968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6656832" y="227685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孙俊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7479792" y="2322576"/>
            <a:ext cx="2168434" cy="155448"/>
          </a:xfrm>
          <a:prstGeom prst="roundRect">
            <a:avLst>
              <a:gd name="adj" fmla="val 23529"/>
            </a:avLst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93946" y="227685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8%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6656832" y="2523744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吴翊鸣</a:t>
            </a:r>
            <a:endParaRPr lang="en-US" sz="810" dirty="0"/>
          </a:p>
        </p:txBody>
      </p:sp>
      <p:sp>
        <p:nvSpPr>
          <p:cNvPr id="42" name="Shape 40"/>
          <p:cNvSpPr/>
          <p:nvPr/>
        </p:nvSpPr>
        <p:spPr>
          <a:xfrm>
            <a:off x="7479792" y="2569464"/>
            <a:ext cx="2168434" cy="155448"/>
          </a:xfrm>
          <a:prstGeom prst="roundRect">
            <a:avLst>
              <a:gd name="adj" fmla="val 23529"/>
            </a:avLst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93946" y="2523744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8%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6656832" y="2770632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伍俊杰</a:t>
            </a:r>
            <a:endParaRPr lang="en-US" sz="810" dirty="0"/>
          </a:p>
        </p:txBody>
      </p:sp>
      <p:sp>
        <p:nvSpPr>
          <p:cNvPr id="45" name="Shape 43"/>
          <p:cNvSpPr/>
          <p:nvPr/>
        </p:nvSpPr>
        <p:spPr>
          <a:xfrm>
            <a:off x="7479792" y="2816352"/>
            <a:ext cx="2168434" cy="155448"/>
          </a:xfrm>
          <a:prstGeom prst="roundRect">
            <a:avLst>
              <a:gd name="adj" fmla="val 23529"/>
            </a:avLst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93946" y="2770632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8%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6656832" y="3017520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林绅</a:t>
            </a:r>
            <a:endParaRPr lang="en-US" sz="810" dirty="0"/>
          </a:p>
        </p:txBody>
      </p:sp>
      <p:sp>
        <p:nvSpPr>
          <p:cNvPr id="48" name="Shape 46"/>
          <p:cNvSpPr/>
          <p:nvPr/>
        </p:nvSpPr>
        <p:spPr>
          <a:xfrm>
            <a:off x="7479792" y="3063240"/>
            <a:ext cx="1897380" cy="155448"/>
          </a:xfrm>
          <a:prstGeom prst="roundRect">
            <a:avLst>
              <a:gd name="adj" fmla="val 23529"/>
            </a:avLst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22892" y="3017520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7%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6656832" y="326440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周逸恒</a:t>
            </a:r>
            <a:endParaRPr lang="en-US" sz="810" dirty="0"/>
          </a:p>
        </p:txBody>
      </p:sp>
      <p:sp>
        <p:nvSpPr>
          <p:cNvPr id="51" name="Shape 49"/>
          <p:cNvSpPr/>
          <p:nvPr/>
        </p:nvSpPr>
        <p:spPr>
          <a:xfrm>
            <a:off x="7479792" y="3310128"/>
            <a:ext cx="1897380" cy="155448"/>
          </a:xfrm>
          <a:prstGeom prst="roundRect">
            <a:avLst>
              <a:gd name="adj" fmla="val 23529"/>
            </a:avLst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22892" y="3264408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7%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6656832" y="351129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童靖淇</a:t>
            </a:r>
            <a:endParaRPr lang="en-US" sz="810" dirty="0"/>
          </a:p>
        </p:txBody>
      </p:sp>
      <p:sp>
        <p:nvSpPr>
          <p:cNvPr id="54" name="Shape 52"/>
          <p:cNvSpPr/>
          <p:nvPr/>
        </p:nvSpPr>
        <p:spPr>
          <a:xfrm>
            <a:off x="7479792" y="3557016"/>
            <a:ext cx="1897380" cy="155448"/>
          </a:xfrm>
          <a:prstGeom prst="roundRect">
            <a:avLst>
              <a:gd name="adj" fmla="val 23529"/>
            </a:avLst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22892" y="351129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7%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6656832" y="3758184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杨显智</a:t>
            </a:r>
            <a:endParaRPr lang="en-US" sz="810" dirty="0"/>
          </a:p>
        </p:txBody>
      </p:sp>
      <p:sp>
        <p:nvSpPr>
          <p:cNvPr id="57" name="Shape 55"/>
          <p:cNvSpPr/>
          <p:nvPr/>
        </p:nvSpPr>
        <p:spPr>
          <a:xfrm>
            <a:off x="7479792" y="3803904"/>
            <a:ext cx="1897380" cy="155448"/>
          </a:xfrm>
          <a:prstGeom prst="roundRect">
            <a:avLst>
              <a:gd name="adj" fmla="val 23529"/>
            </a:avLst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22892" y="3758184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7%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6656832" y="4005072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曾景康</a:t>
            </a:r>
            <a:endParaRPr lang="en-US" sz="810" dirty="0"/>
          </a:p>
        </p:txBody>
      </p:sp>
      <p:sp>
        <p:nvSpPr>
          <p:cNvPr id="60" name="Shape 58"/>
          <p:cNvSpPr/>
          <p:nvPr/>
        </p:nvSpPr>
        <p:spPr>
          <a:xfrm>
            <a:off x="7479792" y="4050792"/>
            <a:ext cx="1897380" cy="155448"/>
          </a:xfrm>
          <a:prstGeom prst="roundRect">
            <a:avLst>
              <a:gd name="adj" fmla="val 23529"/>
            </a:avLst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422892" y="4005072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7%</a:t>
            </a:r>
            <a:endParaRPr lang="en-US" sz="740" dirty="0"/>
          </a:p>
        </p:txBody>
      </p:sp>
      <p:sp>
        <p:nvSpPr>
          <p:cNvPr id="62" name="Text 60"/>
          <p:cNvSpPr/>
          <p:nvPr/>
        </p:nvSpPr>
        <p:spPr>
          <a:xfrm>
            <a:off x="6656832" y="4251960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尤文昊</a:t>
            </a:r>
            <a:endParaRPr lang="en-US" sz="810" dirty="0"/>
          </a:p>
        </p:txBody>
      </p:sp>
      <p:sp>
        <p:nvSpPr>
          <p:cNvPr id="63" name="Shape 61"/>
          <p:cNvSpPr/>
          <p:nvPr/>
        </p:nvSpPr>
        <p:spPr>
          <a:xfrm>
            <a:off x="7479792" y="4297680"/>
            <a:ext cx="1626326" cy="155448"/>
          </a:xfrm>
          <a:prstGeom prst="roundRect">
            <a:avLst>
              <a:gd name="adj" fmla="val 23529"/>
            </a:avLst>
          </a:prstGeom>
          <a:solidFill>
            <a:srgbClr val="9DB4C0"/>
          </a:solidFill>
          <a:ln w="12700">
            <a:solidFill>
              <a:srgbClr val="9DB4C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51838" y="4251960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6%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6656832" y="449884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许鑫泽</a:t>
            </a:r>
            <a:endParaRPr lang="en-US" sz="810" dirty="0"/>
          </a:p>
        </p:txBody>
      </p:sp>
      <p:sp>
        <p:nvSpPr>
          <p:cNvPr id="66" name="Shape 64"/>
          <p:cNvSpPr/>
          <p:nvPr/>
        </p:nvSpPr>
        <p:spPr>
          <a:xfrm>
            <a:off x="7479792" y="4544568"/>
            <a:ext cx="1626326" cy="155448"/>
          </a:xfrm>
          <a:prstGeom prst="roundRect">
            <a:avLst>
              <a:gd name="adj" fmla="val 23529"/>
            </a:avLst>
          </a:prstGeom>
          <a:solidFill>
            <a:srgbClr val="9DB4C0"/>
          </a:solidFill>
          <a:ln w="12700">
            <a:solidFill>
              <a:srgbClr val="9DB4C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51838" y="4498848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6%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6656832" y="4745736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阮逸</a:t>
            </a:r>
            <a:endParaRPr lang="en-US" sz="810" dirty="0"/>
          </a:p>
        </p:txBody>
      </p:sp>
      <p:sp>
        <p:nvSpPr>
          <p:cNvPr id="69" name="Shape 67"/>
          <p:cNvSpPr/>
          <p:nvPr/>
        </p:nvSpPr>
        <p:spPr>
          <a:xfrm>
            <a:off x="7479792" y="4791456"/>
            <a:ext cx="1897380" cy="155448"/>
          </a:xfrm>
          <a:prstGeom prst="roundRect">
            <a:avLst>
              <a:gd name="adj" fmla="val 23529"/>
            </a:avLst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422892" y="474573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7%</a:t>
            </a:r>
            <a:endParaRPr lang="en-US" sz="740" dirty="0"/>
          </a:p>
        </p:txBody>
      </p:sp>
      <p:sp>
        <p:nvSpPr>
          <p:cNvPr id="71" name="Text 69"/>
          <p:cNvSpPr/>
          <p:nvPr/>
        </p:nvSpPr>
        <p:spPr>
          <a:xfrm>
            <a:off x="6656832" y="50474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条形长度 = 贡献比例（计划值）</a:t>
            </a:r>
            <a:endParaRPr lang="en-US" sz="720" dirty="0"/>
          </a:p>
        </p:txBody>
      </p:sp>
      <p:sp>
        <p:nvSpPr>
          <p:cNvPr id="72" name="Text 70"/>
          <p:cNvSpPr/>
          <p:nvPr/>
        </p:nvSpPr>
        <p:spPr>
          <a:xfrm>
            <a:off x="640080" y="5394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工作量分布</a:t>
            </a:r>
            <a:endParaRPr lang="en-US" sz="820" dirty="0"/>
          </a:p>
        </p:txBody>
      </p:sp>
      <p:sp>
        <p:nvSpPr>
          <p:cNvPr id="73" name="Shape 71"/>
          <p:cNvSpPr/>
          <p:nvPr/>
        </p:nvSpPr>
        <p:spPr>
          <a:xfrm>
            <a:off x="1737360" y="534924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EEF1F4"/>
          </a:solidFill>
          <a:ln w="6350">
            <a:solidFill>
              <a:srgbClr val="D9E1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792224" y="5349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 场景与规则</a:t>
            </a:r>
            <a:endParaRPr lang="en-US" sz="720" dirty="0"/>
          </a:p>
        </p:txBody>
      </p:sp>
      <p:sp>
        <p:nvSpPr>
          <p:cNvPr id="75" name="Shape 73"/>
          <p:cNvSpPr/>
          <p:nvPr/>
        </p:nvSpPr>
        <p:spPr>
          <a:xfrm>
            <a:off x="3364992" y="534924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2FAF8"/>
          </a:solidFill>
          <a:ln w="6350">
            <a:solidFill>
              <a:srgbClr val="D9E1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419856" y="5349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 类图与一致性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4992624" y="534924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EEF1F4"/>
          </a:solidFill>
          <a:ln w="6350">
            <a:solidFill>
              <a:srgbClr val="D9E1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47488" y="5349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 原型与可用性</a:t>
            </a:r>
            <a:endParaRPr lang="en-US" sz="720" dirty="0"/>
          </a:p>
        </p:txBody>
      </p:sp>
      <p:sp>
        <p:nvSpPr>
          <p:cNvPr id="79" name="Shape 77"/>
          <p:cNvSpPr/>
          <p:nvPr/>
        </p:nvSpPr>
        <p:spPr>
          <a:xfrm>
            <a:off x="6620256" y="534924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2FAF8"/>
          </a:solidFill>
          <a:ln w="6350">
            <a:solidFill>
              <a:srgbClr val="D9E1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675120" y="5349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 验收与追溯</a:t>
            </a:r>
            <a:endParaRPr lang="en-US" sz="720" dirty="0"/>
          </a:p>
        </p:txBody>
      </p:sp>
      <p:sp>
        <p:nvSpPr>
          <p:cNvPr id="81" name="Shape 79"/>
          <p:cNvSpPr/>
          <p:nvPr/>
        </p:nvSpPr>
        <p:spPr>
          <a:xfrm>
            <a:off x="8247888" y="534924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EEF1F4"/>
          </a:solidFill>
          <a:ln w="6350">
            <a:solidFill>
              <a:srgbClr val="D9E1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302752" y="5349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 文档与格式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9875520" y="534924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F2FAF8"/>
          </a:solidFill>
          <a:ln w="6350">
            <a:solidFill>
              <a:srgbClr val="D9E1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930384" y="5349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 演示与发布</a:t>
            </a:r>
            <a:endParaRPr lang="en-US" sz="720" dirty="0"/>
          </a:p>
        </p:txBody>
      </p:sp>
      <p:sp>
        <p:nvSpPr>
          <p:cNvPr id="85" name="Text 83"/>
          <p:cNvSpPr/>
          <p:nvPr/>
        </p:nvSpPr>
        <p:spPr>
          <a:xfrm>
            <a:off x="502920" y="598932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贡献比例为计划值，完成后按实际交付和互评核定。</a:t>
            </a:r>
            <a:endParaRPr lang="en-US" sz="820" dirty="0"/>
          </a:p>
        </p:txBody>
      </p:sp>
      <p:sp>
        <p:nvSpPr>
          <p:cNvPr id="87" name="Shape 84"/>
          <p:cNvSpPr/>
          <p:nvPr/>
        </p:nvSpPr>
        <p:spPr>
          <a:xfrm>
            <a:off x="502920" y="6446520"/>
            <a:ext cx="11185855" cy="9144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88" name="Text 85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知行有座队 · 第三次作业 需求分析 · SRS V2.0</a:t>
            </a:r>
            <a:endParaRPr lang="en-US" sz="850" dirty="0"/>
          </a:p>
        </p:txBody>
      </p:sp>
      <p:sp>
        <p:nvSpPr>
          <p:cNvPr id="89" name="Text 86"/>
          <p:cNvSpPr/>
          <p:nvPr/>
        </p:nvSpPr>
        <p:spPr>
          <a:xfrm>
            <a:off x="11231575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团队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858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月 12—18 日：按节点交付，做完就复核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进度、协作、还没做完的事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685800" cy="41148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87168"/>
            <a:ext cx="10607040" cy="9144"/>
          </a:xfrm>
          <a:prstGeom prst="line">
            <a:avLst/>
          </a:prstGeom>
          <a:noFill/>
          <a:ln w="38100">
            <a:solidFill>
              <a:srgbClr val="C9D4D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85800" y="2395728"/>
            <a:ext cx="182880" cy="182880"/>
          </a:xfrm>
          <a:prstGeom prst="ellipse">
            <a:avLst/>
          </a:prstGeom>
          <a:solidFill>
            <a:srgbClr val="2E9E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664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-9144" y="276148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启动会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868680" y="2487168"/>
            <a:ext cx="1584960" cy="9144"/>
          </a:xfrm>
          <a:prstGeom prst="line">
            <a:avLst/>
          </a:prstGeom>
          <a:noFill/>
          <a:ln w="19050">
            <a:solidFill>
              <a:srgbClr val="D5DEE6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453640" y="2395728"/>
            <a:ext cx="182880" cy="182880"/>
          </a:xfrm>
          <a:prstGeom prst="ellipse">
            <a:avLst/>
          </a:prstGeom>
          <a:solidFill>
            <a:srgbClr val="2E9E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0720" y="1664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58696" y="276148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+ 规则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2636520" y="2487168"/>
            <a:ext cx="1584960" cy="9144"/>
          </a:xfrm>
          <a:prstGeom prst="line">
            <a:avLst/>
          </a:prstGeom>
          <a:noFill/>
          <a:ln w="19050">
            <a:solidFill>
              <a:srgbClr val="D5DEE6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221480" y="2395728"/>
            <a:ext cx="182880" cy="182880"/>
          </a:xfrm>
          <a:prstGeom prst="ellipse">
            <a:avLst/>
          </a:prstGeom>
          <a:solidFill>
            <a:srgbClr val="2E9E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8560" y="1664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26536" y="276148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类图 + 一致性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404360" y="2487168"/>
            <a:ext cx="1584960" cy="9144"/>
          </a:xfrm>
          <a:prstGeom prst="line">
            <a:avLst/>
          </a:prstGeom>
          <a:noFill/>
          <a:ln w="19050">
            <a:solidFill>
              <a:srgbClr val="D5DEE6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989320" y="2395728"/>
            <a:ext cx="182880" cy="182880"/>
          </a:xfrm>
          <a:prstGeom prst="ellipse">
            <a:avLst/>
          </a:prstGeom>
          <a:solidFill>
            <a:srgbClr val="2E9E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664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94376" y="276148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 + 验收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172200" y="2487168"/>
            <a:ext cx="1584960" cy="9144"/>
          </a:xfrm>
          <a:prstGeom prst="line">
            <a:avLst/>
          </a:prstGeom>
          <a:noFill/>
          <a:ln w="19050">
            <a:solidFill>
              <a:srgbClr val="D5DEE6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7757160" y="2395728"/>
            <a:ext cx="182880" cy="182880"/>
          </a:xfrm>
          <a:prstGeom prst="ellipse">
            <a:avLst/>
          </a:prstGeom>
          <a:solidFill>
            <a:srgbClr val="2E9E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54240" y="1664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62216" y="276148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SRS 定稿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7940040" y="2487168"/>
            <a:ext cx="1584960" cy="9144"/>
          </a:xfrm>
          <a:prstGeom prst="line">
            <a:avLst/>
          </a:prstGeom>
          <a:noFill/>
          <a:ln w="19050">
            <a:solidFill>
              <a:srgbClr val="D5DEE6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525000" y="2395728"/>
            <a:ext cx="182880" cy="182880"/>
          </a:xfrm>
          <a:prstGeom prst="ellipse">
            <a:avLst/>
          </a:prstGeom>
          <a:solidFill>
            <a:srgbClr val="D98A2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22080" y="1664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10/17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830056" y="276148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彩排 + 发布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9707880" y="2487168"/>
            <a:ext cx="1584960" cy="9144"/>
          </a:xfrm>
          <a:prstGeom prst="line">
            <a:avLst/>
          </a:prstGeom>
          <a:noFill/>
          <a:ln w="19050">
            <a:solidFill>
              <a:srgbClr val="D5DEE6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1292840" y="2395728"/>
            <a:ext cx="182880" cy="182880"/>
          </a:xfrm>
          <a:prstGeom prst="ellipse">
            <a:avLst/>
          </a:prstGeom>
          <a:solidFill>
            <a:srgbClr val="A9B4B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0" y="1664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B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10/18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597896" y="276148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86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最终提交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777240" y="3584448"/>
            <a:ext cx="109728" cy="109728"/>
          </a:xfrm>
          <a:prstGeom prst="ellipse">
            <a:avLst/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1832" y="3529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1600200" y="3584448"/>
            <a:ext cx="109728" cy="109728"/>
          </a:xfrm>
          <a:prstGeom prst="ellipse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64792" y="3529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2423160" y="3584448"/>
            <a:ext cx="109728" cy="109728"/>
          </a:xfrm>
          <a:prstGeom prst="ellipse">
            <a:avLst/>
          </a:prstGeom>
          <a:solidFill>
            <a:srgbClr val="A9B4BF"/>
          </a:solidFill>
          <a:ln w="12700">
            <a:solidFill>
              <a:srgbClr val="A9B4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87752" y="35295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计划中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502920" y="39319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67512" y="4023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任务与进度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7512" y="429768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个评分项逐条到人；每天群里同步完成 / 计划 / 阻塞。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4251960" y="39319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416552" y="4023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文档与口径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416552" y="429768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一人编辑、其他人评论；SRS 为准，改完同步博客和 PPT。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8001000" y="39319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165592" y="4023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复核与升级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165592" y="429768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88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每份材料非作者复核；卡住超过 1 天找队长。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502920" y="5257800"/>
            <a:ext cx="11155680" cy="749808"/>
          </a:xfrm>
          <a:prstGeom prst="roundRect">
            <a:avLst>
              <a:gd name="adj" fmla="val 9756"/>
            </a:avLst>
          </a:prstGeom>
          <a:solidFill>
            <a:srgbClr val="FDF1E0"/>
          </a:solidFill>
          <a:ln w="9525">
            <a:solidFill>
              <a:srgbClr val="FDF1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5330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D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截至 10 月 17 日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1920240" y="533095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A42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SRS 已定稿；PPT / 博客在收尾；访谈和测试还没做，放到下一步。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9646920" y="541324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720072" y="541324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7 节点完成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02920" y="614476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没做完的，不写成已完成。</a:t>
            </a:r>
            <a:endParaRPr lang="en-US" sz="820" dirty="0"/>
          </a:p>
        </p:txBody>
      </p:sp>
      <p:sp>
        <p:nvSpPr>
          <p:cNvPr id="56" name="Shape 53"/>
          <p:cNvSpPr/>
          <p:nvPr/>
        </p:nvSpPr>
        <p:spPr>
          <a:xfrm>
            <a:off x="502920" y="6446520"/>
            <a:ext cx="11185855" cy="9144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57" name="Text 54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知行有座队 · 第三次作业 需求分析 · SRS V2.0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11231575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总结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858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三个难点，一条主线：让需求可验证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→ 对策 → 下一步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685800" cy="41148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44752"/>
            <a:ext cx="6629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44752"/>
            <a:ext cx="64008" cy="1005840"/>
          </a:xfrm>
          <a:prstGeom prst="rect">
            <a:avLst/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572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61288" y="15361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需求来源尚未验证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61288" y="182880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 / 平台调查没做；参数先标拟定值；7 项待确认。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615184"/>
            <a:ext cx="6629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615184"/>
            <a:ext cx="64008" cy="1005840"/>
          </a:xfrm>
          <a:prstGeom prst="rect">
            <a:avLst/>
          </a:prstGeom>
          <a:solidFill>
            <a:srgbClr val="D98A2B"/>
          </a:solidFill>
          <a:ln w="12700">
            <a:solidFill>
              <a:srgbClr val="D98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98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" y="270662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并发“先查后写”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61288" y="2999232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校验和写入同一事务；唯一约束兜底；AC-05 验证。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785616"/>
            <a:ext cx="6629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E1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785616"/>
            <a:ext cx="64008" cy="1005840"/>
          </a:xfrm>
          <a:prstGeom prst="rect">
            <a:avLst/>
          </a:prstGeom>
          <a:solidFill>
            <a:srgbClr val="2B4C6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39136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4C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61288" y="387705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边界与口径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61288" y="4169664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时段左闭右开；签到窗口右端也算；终态不再变。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98080" y="1783080"/>
            <a:ext cx="310896" cy="310896"/>
          </a:xfrm>
          <a:prstGeom prst="ellipse">
            <a:avLst/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36992" y="17282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周：访谈学生 / 管理员，查现有平台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498080" y="2441448"/>
            <a:ext cx="310896" cy="310896"/>
          </a:xfrm>
          <a:prstGeom prst="ellipse">
            <a:avLst/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936992" y="23865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周：定页面、签到方式、数据模型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498080" y="3099816"/>
            <a:ext cx="310896" cy="310896"/>
          </a:xfrm>
          <a:prstGeom prst="ellipse">
            <a:avLst/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936992" y="30449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3—4 周：做查询、预约、取消、管理端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498080" y="3758184"/>
            <a:ext cx="310896" cy="310896"/>
          </a:xfrm>
          <a:prstGeom prst="ellipse">
            <a:avLst/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936992" y="3703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周：补签到、暂离、超时释放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7498080" y="4416552"/>
            <a:ext cx="310896" cy="310896"/>
          </a:xfrm>
          <a:prstGeom prst="ellipse">
            <a:avLst/>
          </a:prstGeom>
          <a:solidFill>
            <a:srgbClr val="2E9E8F"/>
          </a:solidFill>
          <a:ln w="12700">
            <a:solidFill>
              <a:srgbClr val="2E9E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4416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936992" y="43616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8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周：测并发、权限、边界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7498080" y="4956048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FBEAE8"/>
          </a:solidFill>
          <a:ln w="9525">
            <a:solidFill>
              <a:srgbClr val="FBEAE8"/>
            </a:solidFill>
            <a:prstDash val="solid"/>
          </a:ln>
          <a:effectLst>
            <a:outerShdw sx="100000" sy="100000" kx="0" ky="0" algn="bl" rotWithShape="0" blurRad="88900" dist="50800" dir="27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644384" y="5029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B94A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真实性边界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7644384" y="52669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6000"/>
              </a:lnSpc>
              <a:buNone/>
            </a:pPr>
            <a:r>
              <a:rPr lang="en-US" sz="810" dirty="0">
                <a:solidFill>
                  <a:srgbClr val="6B34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没做的，不写成“已完成”。</a:t>
            </a:r>
            <a:endParaRPr lang="en-US" sz="810" dirty="0"/>
          </a:p>
        </p:txBody>
      </p:sp>
      <p:sp>
        <p:nvSpPr>
          <p:cNvPr id="40" name="Shape 38"/>
          <p:cNvSpPr/>
          <p:nvPr/>
        </p:nvSpPr>
        <p:spPr>
          <a:xfrm>
            <a:off x="502920" y="4892040"/>
            <a:ext cx="6629400" cy="713232"/>
          </a:xfrm>
          <a:prstGeom prst="roundRect">
            <a:avLst>
              <a:gd name="adj" fmla="val 10256"/>
            </a:avLst>
          </a:prstGeom>
          <a:solidFill>
            <a:srgbClr val="1F3A5F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89204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US  ·  15 FR  ·  13 BR  ·  13 类  ·  15 AC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85800" y="5257800"/>
            <a:ext cx="6263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9FD8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让座位预约规则更清晰，让学习空间管理更有序。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502920" y="5870448"/>
            <a:ext cx="6629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9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知行有座，学习有序。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498080" y="587044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 · 欢迎提问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502920" y="6446520"/>
            <a:ext cx="11185855" cy="9144"/>
          </a:xfrm>
          <a:prstGeom prst="line">
            <a:avLst/>
          </a:prstGeom>
          <a:noFill/>
          <a:ln w="9525">
            <a:solidFill>
              <a:srgbClr val="D9E1E8"/>
            </a:solidFill>
            <a:prstDash val="solid"/>
            <a:headEnd type="none"/>
            <a:tailEnd type="none"/>
          </a:ln>
        </p:spPr>
      </p:sp>
      <p:sp>
        <p:nvSpPr>
          <p:cNvPr id="47" name="Text 44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知行有座队 · 第三次作业 需求分析 · SRS V2.0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11231575" y="64922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知行有座队（StudySeat Team）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智慧校园自习室预约与座位管理系统 · 需求分析</dc:title>
  <dc:subject>第三次作业 需求分析 课堂展示</dc:subject>
  <dc:creator>知行有座队</dc:creator>
  <cp:lastModifiedBy>知行有座队</cp:lastModifiedBy>
  <cp:revision>1.0</cp:revision>
  <dcterms:created xsi:type="dcterms:W3CDTF">2026-10-17T15:26:19Z</dcterms:created>
  <dcterms:modified xsi:type="dcterms:W3CDTF">2026-10-17T15:26:19Z</dcterms:modified>
</cp:coreProperties>
</file>